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BACHELOR OF ENGINEERING / TECHNOLOGY — ECE CAPSTONE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Edge AI Model Compression Pipeline for Microcontroller Keyword Spotting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Design, INT8 Quantization, and Embedded Deployment Analysis of an Ultra-Compact DS-CNN Targeting the ESP32-S3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Verified Artifacts: 5,248 Parameters | 21.77 KB INT8 FlatBuffer | 54.83% Accuracy | 52.0 KB Working SRAM</a:t>
            </a:r>
            <a:br/>
            <a:r>
              <a:t>Host Environment: Windows 11 CPU (Ryzen 3 7320U) | Target: Espressif ESP32-S3 (Virtual Scaffolding)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FINAL-YEAR ECE PROJECT | EDGE AI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Edge AI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1. Cloud Audio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• High Latency: Round-trip internet transfers introduce 150–1,500 ms delays, preventing real-time control.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Privacy Hazards: Continuous streaming of private speech over Wi-Fi creates severe eavesdropping risks.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Bandwidth Overhead: Continuous 16 kHz audio demands ~256 kbps stream per node.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Network Brittleness: Voice UI fails completely during connection drops or weak signal.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2. MCU Hardware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• SRAM Scarcity: ESP32-S3 has only 512 KB internal SRAM for runtime heap, stacks, and tensor buffers.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No Dedicated NPU: Execution relies on Xtensa LX7 dual cores without GPU matrix acceleration.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Flash Limits: Typical 4 MB SPI Flash must accommodate OTA partitions, Wi-Fi stacks, and code.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Thermal &amp; Power Budget: Low milliwatt envelope demands minimal clock cycles per 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3. The TinyML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• Ultra-Compact Network: DS-CNN with 5,248 parameters (~20.5 KB float weights).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Full INT8 Quantization: Eliminates software float emulation; uses native SIMD instructions.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Static Tensor Arena: Predictable 30 KB SRAM buffer with zero dynamic heap allocation.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Local Autonomy: 100% on-device decision making with zero network dependency.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Host: AMD Ryzen 3 7320U CPU | Target: ESP32-S3 (Virtual) | 61/61 Automated Tests Passing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FINAL-YEAR ECE PROJECT | EDGE AI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 &amp; Execution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Primary Engineering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✔ 12-Class Keyword Spotting: Classify 10 core words ('yes', 'no', 'up', 'down', 'left', 'right', 'on', 'off', 'stop', 'go') + '_silence_' and '_unknown_'.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Deterministic Zero-Leakage Dataset: Curate 4,890 Speech Commands WAVs partitioned strictly by cryptographic speaker hashing.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Full Integer Quantization: Post-training 8-bit integer calibration with full signed int8 input/output tensors.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ESP32-S3 Firmware Scaffold: Generate 8-byte aligned C header (`model_data.h`) and FreeRTOS task with `esp-nn` kernel support.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Comprehensive Memory Budgeting: Model layer-by-layer activation buffers to mathematically size the Tensor Arena.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Scope &amp; Explicit Disclosures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ℹ Host Execution: All model training, evaluation, and dashboard inference were conducted on the host AMD Ryzen 3 7320U CPU.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ℹ Microcontroller Estimates: ESP32-S3 latency (~6–10 ms) is an analytical projection from literature, not on-silicon measurement.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ℹ Firmware Compilation Status: ESP-IDF source files and CMake configs are syntactically validated, but the compiler (`idf.py`) is not installed on this host (Template Only / Not Built).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ℹ Physical Hardware: Flashing to physical silicon, battery current draw, and hardware audio capture were NOT performed.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ℹ Reproducibility: 100% of reported numbers originate from verified disk artifacts and a 61-test automated suite.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Host: AMD Ryzen 3 7320U CPU | Target: ESP32-S3 (Virtual) | 61/61 Automated Tests Passing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FINAL-YEAR ECE PROJECT | EDGE AI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End-to-End System Pipeline &amp;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603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Step 1: Audio Preprocessor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0F172A"/>
                </a:solidFill>
              </a:defRPr>
            </a:pPr>
            <a:r>
              <a:t>16 kHz Mono WAV (1.0s)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16,000 samples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Pre-emphasis (α=0.97)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Hann windowing (25ms)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Stride (20ms) -&gt; 47 frames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40 Mel-filterbank DCT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603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7373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Step 2: DS-CNN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0F172A"/>
                </a:solidFill>
              </a:defRPr>
            </a:pPr>
            <a:r>
              <a:t>Feature map: [1, 40, 47]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5,248 parameters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Standard Conv (28 filters)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2× Depthwise-Pointwise blocks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Global Pooling + Linear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PyTorch FP32 State Dict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5603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Step 3: INT8 Quantization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0F172A"/>
                </a:solidFill>
              </a:defRPr>
            </a:pPr>
            <a:r>
              <a:t>Post-Training Quantization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100-sample calibration set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Full int8 input &amp; output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S_in = 0.4796, Z_in = 54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S_out = 0.1009, Z_out = 82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TFLite FlatBuffer (21.77 KB)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54480"/>
            <a:ext cx="25603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7373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Step 4: ESP32-S3 Scaffold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0F172A"/>
                </a:solidFill>
              </a:defRPr>
            </a:pPr>
            <a:r>
              <a:t>Aligned C Header (alignas 8)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SHA-256 Verified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30 KB Tensor Arena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FreeRTOS Task Architecture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ESP-NN Vector Kernels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52.0 KB Working SRAM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Host: AMD Ryzen 3 7320U CPU | Target: ESP32-S3 (Virtual) | 61/61 Automated Tests Passing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FINAL-YEAR ECE PROJECT | EDGE AI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Dataset Integrity &amp; MFCC Feature Extraction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Deterministic Speaker-Isolated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Dataset Source: Google Speech Commands v2 (4,890 verified WAV files, 149.44 MB).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12 Target Classes: 10 commands ('yes', 'no', 'up', 'down', 'left', 'right', 'on', 'off', 'stop', 'go') + '_silence_' (ambient noise) + '_unknown_' (19 other words).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Speaker Isolation Mechanism: SHA-1 hash of speaker ID guarantees 0.0% speaker overlap between splits: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• Training: 3,936 clips (829 unique speakers)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• Validation: 436 clips (98 unique speakers)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• Held-out Test: 518 clips (102 unique speakers)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Zero-Leakage Guarantee: Prevents neural memorization of individual vocal timbres.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MFCC Signal Processing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Sampling Rate: 16,000 Hz, 16-bit PCM, single-channel mono.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Framing: 25 ms window (400 samples) with 20 ms stride (320 samples) -&gt; 47 time frames.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Windowing: Periodic Hann window to suppress spectral leakage.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Spectral Analysis: 512-point FFT -&gt; 40 triangular Mel-scale filterbanks (20 Hz to 4,000 Hz).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Log Energy &amp; DCT: Type-II Discrete Cosine Transform extracts 40 orthogonal cepstral coefficients.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Output Feature Tensor: Shape [1, 40, 47] (1,880 total elements per 1.0 second audio clip).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Host: AMD Ryzen 3 7320U CPU | Target: ESP32-S3 (Virtual) | 61/61 Automated Tests Passing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FINAL-YEAR ECE PROJECT | EDGE AI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DS-CNN Architecture &amp; Baseline FP32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6217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</a:tblGrid>
              <a:tr h="56007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E7490"/>
                          </a:solidFill>
                        </a:defRPr>
                      </a:pPr>
                      <a:r>
                        <a:t>Layer Type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E7490"/>
                          </a:solidFill>
                        </a:defRPr>
                      </a:pPr>
                      <a:r>
                        <a:t>Kernel / Stride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E7490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E7490"/>
                          </a:solidFill>
                        </a:defRPr>
                      </a:pPr>
                      <a:r>
                        <a:t>Output Shape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Input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[1, 40, 47, 1]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Conv2D + BN + 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3×3, Stride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[1, 20, 24, 28]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Depthwise Conv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3×3, Stride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[1, 20, 24, 28]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Pointwise Conv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1×1, Stride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[1, 20, 24, 28]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Depthwise Conv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3×3, Stride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[1, 20, 24, 28]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Pointwise Conv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1×1, Stride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[1, 20, 24, 28]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AdaptiveAvgPool +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Pool + 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[1, 12]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0" y="1554480"/>
            <a:ext cx="41148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0" y="173736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Training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19456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Parameter Budget: Exactly 5,248 trainable weights.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Separable Advantage: ~8.7× computational saving over traditional 2D convolutions.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Optimizer: Adam (lr = 0.001) with CrossEntropyLoss.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Batch Size: 64 samples over 8 completed epochs.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Augmentation: Time-shift jitter (±100 ms) and background ambient noise mixing.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Checkpoint: Saved at models/checkpoints/baseline_dscnn.pt (102.93 KB state_dict).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Host: AMD Ryzen 3 7320U CPU | Target: ESP32-S3 (Virtual) | 61/61 Automated Tests Passing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FINAL-YEAR ECE PROJECT | EDGE AI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Full INT8 Integer Quantization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Quantization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Uniform Affine Mapping: Continuous FP32 values x are mapped to signed 8-bit integers q in [-128, 127]:</a:t>
            </a:r>
            <a:br/>
            <a:r>
              <a:t>  q = clamp(round(x / S) + Z, -128, 127)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Scale (S) &amp; Zero-Point (Z):</a:t>
            </a:r>
            <a:br/>
            <a:r>
              <a:t>  S = (x_max - x_min) / 255</a:t>
            </a:r>
            <a:br/>
            <a:r>
              <a:t>  Z = round(-128 - x_min / 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Full Integer Constraint: Both model input and output tensors are constrained strictly to int8, eliminating float conversion wrappers.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Input Quantization Params: S = 0.479577, Z = 54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Output Quantization Params: S = 0.100918, Z = 82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TFLM &amp; ESP-NN Compatibility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Representative Calibration: Calibrated using 100 genuine training audio clips to record dynamic activation ranges.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Zero-Copy Kernels: All 5 model operator types are verified compatible with TFLM and Espressif esp-nn assembly: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• CONV_2D (Xtensa PIE vector accelerated)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• DEPTHWISE_CONV_2D (Xtensa PIE vector accelerated)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• FULLY_CONNECTED (Xtensa PIE vector accelerated)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• AVERAGE_POOL_2D (Integer pooled)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• RESHAPE (Metadata pointer adjustment)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Zero Unsupported Fallbacks: 100% of network executes in hardware-friendly integer arithmetic.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Host: AMD Ryzen 3 7320U CPU | Target: ESP32-S3 (Virtual) | 61/61 Automated Tests Passing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FINAL-YEAR ECE PROJECT | EDGE AI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Verified Benchmark Results: FP32 vs Full INT8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MODEL FILE SIZE</a:t>
            </a:r>
          </a:p>
          <a:p>
            <a:pPr>
              <a:defRPr sz="2800" b="1">
                <a:solidFill>
                  <a:srgbClr val="0E7490"/>
                </a:solidFill>
              </a:defRPr>
            </a:pPr>
            <a:r>
              <a:t>21.77 KB</a:t>
            </a:r>
          </a:p>
          <a:p>
            <a:pPr>
              <a:defRPr sz="1400" b="1">
                <a:solidFill>
                  <a:srgbClr val="16A34A"/>
                </a:solidFill>
              </a:defRPr>
            </a:pPr>
            <a:r>
              <a:t>-78.85%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From 102.93 KB (.pt) to 21.77 KB (.tflite)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916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TEST ACCURACY</a:t>
            </a:r>
          </a:p>
          <a:p>
            <a:pPr>
              <a:defRPr sz="2800" b="1">
                <a:solidFill>
                  <a:srgbClr val="0E7490"/>
                </a:solidFill>
              </a:defRPr>
            </a:pPr>
            <a:r>
              <a:t>54.83%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-0.58 pp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55.41% (FP32) vs 54.83% (INT8) on 518 samples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MACRO-F1 SCORE</a:t>
            </a:r>
          </a:p>
          <a:p>
            <a:pPr>
              <a:defRPr sz="2800" b="1">
                <a:solidFill>
                  <a:srgbClr val="0E7490"/>
                </a:solidFill>
              </a:defRPr>
            </a:pPr>
            <a:r>
              <a:t>0.5179</a:t>
            </a:r>
          </a:p>
          <a:p>
            <a:pPr>
              <a:defRPr sz="1400" b="1">
                <a:solidFill>
                  <a:srgbClr val="16A34A"/>
                </a:solidFill>
              </a:defRPr>
            </a:pPr>
            <a:r>
              <a:t>+0.0069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FP32: 0.5110 -&gt; INT8: 0.5179 (+0.69 pp)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6916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LAPTOP CPU LATENCY</a:t>
            </a:r>
          </a:p>
          <a:p>
            <a:pPr>
              <a:defRPr sz="2800" b="1">
                <a:solidFill>
                  <a:srgbClr val="0E7490"/>
                </a:solidFill>
              </a:defRPr>
            </a:pPr>
            <a:r>
              <a:t>0.30 ms</a:t>
            </a:r>
          </a:p>
          <a:p>
            <a:pPr>
              <a:defRPr sz="1400" b="1">
                <a:solidFill>
                  <a:srgbClr val="16A34A"/>
                </a:solidFill>
              </a:defRPr>
            </a:pPr>
            <a:r>
              <a:t>7.59× Speed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2.29 ms (FP32) -&gt; 0.30 ms (INT8) (XNNPACK)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384048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E7490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E7490"/>
                          </a:solidFill>
                        </a:defRPr>
                      </a:pPr>
                      <a:r>
                        <a:t>Baseline PyTorch FP32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E7490"/>
                          </a:solidFill>
                        </a:defRPr>
                      </a:pPr>
                      <a:r>
                        <a:t>Quantized TFLite INT8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E7490"/>
                          </a:solidFill>
                        </a:defRPr>
                      </a:pPr>
                      <a:r>
                        <a:t>Difference / Compression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E7490"/>
                          </a:solidFill>
                        </a:defRPr>
                      </a:pPr>
                      <a:r>
                        <a:t>Verification 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Model Disk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105,396 B (102.93 KB)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22,296 B (21.77 KB)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-78.85% (4.73× compression)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Exact file bytes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Raw Weight 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20,992 B (20.50 KB)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5,248 B (5.125 KB)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-75.00% (4.00× compression)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5,248 parameters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Test Accuracy (518 clips)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55.41% (287 / 518)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54.83% (284 / 518)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-0.58 percentage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Identical test set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Host CPU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2.29 ms ± 0.96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0.30 ms ± 0.08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7.59× speedup / 3,312 inf/sec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Ryzen 3 7320U (100 runs)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Latency measured on host AMD Ryzen 3 7320U CPU. Identical 518 test clips evaluated.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FINAL-YEAR ECE PROJECT | EDGE AI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Interactive Reviewer Dashboard (Local Web App)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Architecture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Framework: Local Streamlit web application running at http://localhost:8501.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Crash-Resistant PyArrow-Free Tables: Direct HTML table serialization prevents numpy version collisions.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Sandbox File Security: Strict path traversal prevention restricts report downloads to results/reports/.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Graceful Fallback: Corrupted or missing artifacts display informative warning badges without crashing.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Automated Verification: Browser automation subagent verified all 5 pages and rendered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Key Reviewer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1. Audio Inference Lab: Select real WAV samples across all 12 classes; view waveform and MFCC feature spectrograms.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2. Live Dual Model Prediction: Concurrently runs PyTorch FP32 and TFLite INT8 on user-selected audio.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3. Side-by-Side Model Comparison: Live tables displaying accuracy, F1, size, parameter counts, and latency deltas.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4. Visualizations: Interactive confusion matrices (100% precision on '_silence_'), training loss curves, and latency charts.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5. Virtual ESP32 Analysis: Layer-by-layer activation dimensions and SRAM budget calculators.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Host: AMD Ryzen 3 7320U CPU | Target: ESP32-S3 (Virtual) | 61/61 Automated Tests Passing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FINAL-YEAR ECE PROJECT | EDGE AI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Virtual ESP32-S3 Deployment &amp; Resource 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6217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E7490"/>
                          </a:solidFill>
                        </a:defRPr>
                      </a:pPr>
                      <a:r>
                        <a:t>Subsystem Component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E7490"/>
                          </a:solidFill>
                        </a:defRPr>
                      </a:pPr>
                      <a:r>
                        <a:t>Memory Type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E7490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E7490"/>
                          </a:solidFill>
                        </a:defRPr>
                      </a:pPr>
                      <a:r>
                        <a:t>% of Resource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Model FlatBuffer 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Flash (.rodata)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21.77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0.54% of 4 MB Flash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Tensor Arena (Activations)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Internal 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30.00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5.86% of 512 KB SRAM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KWS Task Stack (FreeRTOS)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Internal 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16.00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3.13% of 512 KB SRAM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I2S DMA Audio Buffers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Internal 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2.00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0.39% of 512 KB SRAM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MFCC Scratchpad 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Internal 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4.00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0.78% of 512 KB SRAM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Total Working 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Internal 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52.00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10.16% (89.8% Headroom)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0" y="1554480"/>
            <a:ext cx="41148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0" y="173736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Activation Double-Buffering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19456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Memory Planner: TFLM dynamically reuses buffers between non-overlapping operations.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Peak Adjacent Buffers: Conv2D (13,440 B) + Depthwise Conv (13,440 B) = 26,880 bytes (26.25 KB).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TFLM Metadata &amp; Padding: 2,048 bytes (2.00 KB).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Minimum Theoretical Arena: 28,928 bytes (28.25 KB).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Configured Tensor Arena: 30,720 bytes (30.00 KB) provides +10.7% safety margin.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Projected ESP32-S3 Latency: ~6–10 ms @ 240 MHz utilizing esp-nn vector extensions.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Analytical estimates. Flash/SRAM computed mathematically. Physical ESP32 flashing not performed.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FINAL-YEAR ECE PROJECT | EDGE AI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Technical Limitations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Current Engineering Disclosures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• Laptop Latency Baseline: 0.30 ms latency was measured on an x86 laptop CPU; embedded on-silicon latency will be higher (~6–10 ms).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Firmware Build Status: The ESP-IDF toolchain ('idf.py') is not installed on this host. CMake files and C++ firmware are syntactically validated but uncompiled.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Zero Physical Hardware: Power dissipation (mA), acoustic microphone background noise, and physical GPIO actions were not tested on hardware.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Uncalibrated Pruning: Structured channel pruning and knowledge distillation were designed conceptually but excluded from this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Roadmap for Physical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F172A"/>
                </a:solidFill>
              </a:defRPr>
            </a:pPr>
            <a:r>
              <a:t>• 1. Toolchain Installation: Set up ESP-IDF v5.1+ and Xtensa GCC toolchain to build flashable .bin binaries.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2. Development Board Flashing: Flash compiled binary to ESP32-S3-DevKitC-1 via USB-JTAG.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3. I2S MEMS Microphone: Interface INMP441 digital microphone for live continuous listening.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4. Power &amp; Current Profiling: Measure dynamic milliwatt power draw using shunt resistor and oscilloscope.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5. Advanced Compression: Integrate L1 structured filter pruning and Knowledge Distillation from a larger ResNet-18 teacher.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Host: AMD Ryzen 3 7320U CPU | Target: ESP32-S3 (Virtual) | 61/61 Automated Tests Passing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FINAL-YEAR ECE PROJECT SUMMARY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Key Takeaways &amp; Conclusion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1. Extreme Compression with Parity: 78.85% model size reduction (102.9 KB -&gt; 21.77 KB) with only 0.58 pp accuracy loss (54.83%).</a:t>
            </a:r>
            <a:br/>
            <a:r>
              <a:t>2. Microcontroller Feasibility: Occupies 0.54% of 4 MB Flash and 52.0 KB working SRAM (89.84% free headroom on ESP32-S3).</a:t>
            </a:r>
            <a:br/>
            <a:r>
              <a:t>3. Cryptographic C-Export: Generated model_data.h verified with 100% byte-for-byte SHA-256 integrity.</a:t>
            </a:r>
            <a:br/>
            <a:r>
              <a:t>4. Full Transparency: Complete separation between measured PC benchmarks and analytical embedded estimates.</a:t>
            </a:r>
            <a:br/>
            <a:r>
              <a:t>5. Rigorous Quality: 61 automated unit/integration tests passing with 0 failures.</a:t>
            </a:r>
            <a:br/>
            <a:br/>
            <a:r>
              <a:t>Thank You.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